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</p:sldMasterIdLst>
  <p:sldIdLst>
    <p:sldId id="256" r:id="rId14"/>
    <p:sldId id="257" r:id="rId15"/>
    <p:sldId id="260" r:id="rId16"/>
    <p:sldId id="259" r:id="rId17"/>
    <p:sldId id="258" r:id="rId18"/>
    <p:sldId id="262" r:id="rId19"/>
    <p:sldId id="263" r:id="rId20"/>
    <p:sldId id="264" r:id="rId21"/>
    <p:sldId id="265" r:id="rId22"/>
    <p:sldId id="261" r:id="rId23"/>
    <p:sldId id="266" r:id="rId24"/>
    <p:sldId id="267" r:id="rId25"/>
    <p:sldId id="268" r:id="rId26"/>
    <p:sldId id="269" r:id="rId27"/>
    <p:sldId id="270" r:id="rId28"/>
    <p:sldId id="271" r:id="rId29"/>
  </p:sldIdLst>
  <p:sldSz cx="9144000" cy="5143500" type="screen16x9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8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BFA3269B-00FC-4581-8433-5ADC496032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CE106C1-8403-456F-A5AA-E3BB3239FCF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E585C68-A9DB-4F20-8D45-2E5E32FAEF1C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42CED764-9D6A-4F02-8ABB-CF28BC258485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E6E88BE-1F98-4FE5-8DCE-95058585D0D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6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ED6BAC5-6278-4109-89B6-FBEC50206AA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3EF011A2-EF38-4F17-8E0D-4E912C2ED631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DE7DD336-81EC-4179-9FDA-FE5578013B4E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6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77B89E7-4B3E-477C-9F28-1BBEA24837E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6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6920" cy="34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76760" y="1152360"/>
            <a:ext cx="4156920" cy="34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6849721-607F-4F15-96E1-EDB317451AB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6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8845464-97ED-404B-9418-2469C2E902A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FAC20C-A9FE-404C-A4B0-C1871341B76A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83E2EAE9-D316-485E-B93B-DA521CCFDAD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sp>
        <p:nvSpPr>
          <p:cNvPr id="8" name="Google Shape;44;p10"/>
          <p:cNvSpPr/>
          <p:nvPr/>
        </p:nvSpPr>
        <p:spPr>
          <a:xfrm>
            <a:off x="2714400" y="0"/>
            <a:ext cx="6427800" cy="51418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oogle Shape;46;p10"/>
          <p:cNvPicPr/>
          <p:nvPr/>
        </p:nvPicPr>
        <p:blipFill>
          <a:blip r:embed="rId4"/>
          <a:srcRect r="22626"/>
          <a:stretch/>
        </p:blipFill>
        <p:spPr>
          <a:xfrm>
            <a:off x="0" y="0"/>
            <a:ext cx="2712600" cy="5141880"/>
          </a:xfrm>
          <a:prstGeom prst="rect">
            <a:avLst/>
          </a:prstGeom>
          <a:ln w="0">
            <a:noFill/>
          </a:ln>
        </p:spPr>
      </p:pic>
      <p:sp>
        <p:nvSpPr>
          <p:cNvPr id="3" name="Google Shape;47;p10"/>
          <p:cNvSpPr/>
          <p:nvPr/>
        </p:nvSpPr>
        <p:spPr>
          <a:xfrm>
            <a:off x="2912040" y="444960"/>
            <a:ext cx="5918400" cy="57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16C4CE-0C8D-44CB-83AF-8700A1DD96B1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49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28E41BD-D08E-40F4-9A91-DC73BD6170E8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49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3A9353-2011-4384-BD10-69588860C4C7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49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A444D7F-842D-4221-98D5-2F5DF598FFB6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49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pic>
        <p:nvPicPr>
          <p:cNvPr id="20" name="Google Shape;61;p14"/>
          <p:cNvPicPr/>
          <p:nvPr/>
        </p:nvPicPr>
        <p:blipFill>
          <a:blip r:embed="rId4"/>
          <a:stretch/>
        </p:blipFill>
        <p:spPr>
          <a:xfrm>
            <a:off x="0" y="1055160"/>
            <a:ext cx="4660200" cy="2264760"/>
          </a:xfrm>
          <a:prstGeom prst="rect">
            <a:avLst/>
          </a:prstGeom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5E5C793-4383-4B42-BDAE-D48768086A7D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FFFFFF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49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FFFFFF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FFFFFF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FFFFFF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FFFFFF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FFFFFF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FFFFFF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A5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pic>
        <p:nvPicPr>
          <p:cNvPr id="25" name="Google Shape;13;p2"/>
          <p:cNvPicPr/>
          <p:nvPr/>
        </p:nvPicPr>
        <p:blipFill>
          <a:blip r:embed="rId4"/>
          <a:stretch/>
        </p:blipFill>
        <p:spPr>
          <a:xfrm>
            <a:off x="0" y="3821760"/>
            <a:ext cx="9142200" cy="1319760"/>
          </a:xfrm>
          <a:prstGeom prst="rect">
            <a:avLst/>
          </a:prstGeom>
          <a:ln w="0">
            <a:noFill/>
          </a:ln>
        </p:spPr>
      </p:pic>
      <p:pic>
        <p:nvPicPr>
          <p:cNvPr id="26" name="Google Shape;15;p2"/>
          <p:cNvPicPr/>
          <p:nvPr/>
        </p:nvPicPr>
        <p:blipFill>
          <a:blip r:embed="rId5"/>
          <a:stretch/>
        </p:blipFill>
        <p:spPr>
          <a:xfrm>
            <a:off x="6157080" y="3691080"/>
            <a:ext cx="2985120" cy="1450440"/>
          </a:xfrm>
          <a:prstGeom prst="rect">
            <a:avLst/>
          </a:prstGeom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680" cy="62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8960C5-DB5E-42F5-8DFC-95BEC020390F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49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FFFFFF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FFFFFF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FFFFFF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FFFFFF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FFFFFF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FFFFFF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A5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pic>
        <p:nvPicPr>
          <p:cNvPr id="33" name="Google Shape;19;p3"/>
          <p:cNvPicPr/>
          <p:nvPr/>
        </p:nvPicPr>
        <p:blipFill>
          <a:blip r:embed="rId4"/>
          <a:stretch/>
        </p:blipFill>
        <p:spPr>
          <a:xfrm>
            <a:off x="0" y="3821760"/>
            <a:ext cx="9142200" cy="1319760"/>
          </a:xfrm>
          <a:prstGeom prst="rect">
            <a:avLst/>
          </a:prstGeom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814E730-3424-47D0-ACEF-6BF6CFBB7CEA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FFFFFF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49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FFFFFF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FFFFFF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FFFFFF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FFFFFF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FFFFFF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FFFFFF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66C4B2-AEE0-4F24-8D35-F1F9191112BC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49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680" cy="62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13005F9-D23D-4155-B064-815315CE4872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680" cy="62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6920" cy="34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6920" cy="34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2E96289-3968-4ACA-A681-2503C7BDACFE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680" cy="62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0480E4-ED13-4A2D-A8D5-8F0B5D596672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49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94A4201-5E76-47E5-BFFB-30AFF598F0D3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49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9;p1"/>
          <p:cNvPicPr/>
          <p:nvPr/>
        </p:nvPicPr>
        <p:blipFill>
          <a:blip r:embed="rId3"/>
          <a:stretch/>
        </p:blipFill>
        <p:spPr>
          <a:xfrm>
            <a:off x="0" y="4647600"/>
            <a:ext cx="9142200" cy="496800"/>
          </a:xfrm>
          <a:prstGeom prst="rect">
            <a:avLst/>
          </a:prstGeom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29B3B07-2FC2-4879-B78D-3047A762F459}" type="slidenum">
              <a:rPr lang="pt-BR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49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868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2500" b="0" strike="noStrike" spc="-1">
                <a:solidFill>
                  <a:schemeClr val="dk2"/>
                </a:solidFill>
                <a:latin typeface="Montserrat"/>
                <a:ea typeface="Montserrat"/>
              </a:rPr>
              <a:t>Setembro de 2026</a:t>
            </a:r>
            <a:endParaRPr lang="pt-BR" sz="2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435600" y="387720"/>
            <a:ext cx="8270640" cy="163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59999" lnSpcReduction="20000"/>
          </a:bodyPr>
          <a:lstStyle/>
          <a:p>
            <a:r>
              <a:rPr lang="pt-BR" b="1" dirty="0"/>
              <a:t>Totem</a:t>
            </a:r>
            <a:endParaRPr lang="pt-BR" dirty="0"/>
          </a:p>
          <a:p>
            <a:r>
              <a:rPr lang="pt-BR" b="1" dirty="0"/>
              <a:t>assistente</a:t>
            </a:r>
            <a:endParaRPr lang="pt-BR" dirty="0"/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tabLst>
                <a:tab pos="0" algn="l"/>
              </a:tabLst>
            </a:pPr>
            <a:r>
              <a:rPr lang="pt-BR" sz="3600" b="0" i="0" dirty="0" err="1">
                <a:effectLst/>
              </a:rPr>
              <a:t>Presented</a:t>
            </a:r>
            <a:r>
              <a:rPr lang="pt-BR" sz="3600" b="0" i="0" dirty="0">
                <a:effectLst/>
              </a:rPr>
              <a:t> </a:t>
            </a:r>
            <a:r>
              <a:rPr lang="pt-BR" sz="3600" b="0" i="0" dirty="0" err="1">
                <a:effectLst/>
              </a:rPr>
              <a:t>by</a:t>
            </a:r>
            <a:r>
              <a:rPr lang="pt-BR" sz="3600" b="0" i="0" dirty="0">
                <a:effectLst/>
              </a:rPr>
              <a:t> 1r2j</a:t>
            </a:r>
            <a:endParaRPr lang="pt-BR" sz="36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/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/>
          <p:cNvSpPr/>
          <p:nvPr/>
        </p:nvSpPr>
        <p:spPr>
          <a:xfrm>
            <a:off x="435600" y="388080"/>
            <a:ext cx="8270640" cy="41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Nossa equipe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pt-BR" dirty="0"/>
              <a:t>Rafael Queiroz</a:t>
            </a:r>
          </a:p>
          <a:p>
            <a:r>
              <a:rPr lang="pt-BR" dirty="0"/>
              <a:t>João Henrique</a:t>
            </a:r>
          </a:p>
          <a:p>
            <a:r>
              <a:rPr lang="pt-BR" dirty="0"/>
              <a:t>João Miguel</a:t>
            </a:r>
          </a:p>
          <a:p>
            <a:r>
              <a:rPr lang="pt-BR" dirty="0"/>
              <a:t>Orientador: Adriano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F8B9-B664-02BB-13E3-5BFFED51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A2BCFAAD-F682-4BA4-BA51-B4DA291407A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399BF221-033C-610C-88AD-F435A3B9DC3F}"/>
              </a:ext>
            </a:extLst>
          </p:cNvPr>
          <p:cNvSpPr/>
          <p:nvPr/>
        </p:nvSpPr>
        <p:spPr>
          <a:xfrm>
            <a:off x="435600" y="388080"/>
            <a:ext cx="8102472" cy="37983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 fontScale="925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Introdução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600" b="0" i="0" dirty="0">
                <a:effectLst/>
              </a:rPr>
              <a:t>O Totem Acolhedor de IA é uma solução digital interativa desenvolvida para transformar a experiência de pacientes e acompanhantes na sala de espera do pronto atendimento da Unimed. O projeto atua diretamente na lacuna de comunicação existente entre a triagem clínica e a chamada médica definitiva, substituindo o tradicional painel estático por uma interface dinâmica, acessível e empática.</a:t>
            </a:r>
            <a:endParaRPr lang="pt-BR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7430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25B2D-DE50-B0C9-CD0E-4430CFBA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F073E48A-9BBA-FE62-7485-E68150BF0C5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0167A7CB-D660-4761-D6BA-188795138C09}"/>
              </a:ext>
            </a:extLst>
          </p:cNvPr>
          <p:cNvSpPr/>
          <p:nvPr/>
        </p:nvSpPr>
        <p:spPr>
          <a:xfrm>
            <a:off x="435599" y="388080"/>
            <a:ext cx="8157557" cy="36771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 fontScale="925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Problema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800" b="0" i="0" dirty="0">
                <a:effectLst/>
              </a:rPr>
              <a:t>Em serviços de urgência, a ausência de previsibilidade e a falta de clareza sobre o fluxo de atendimento geram ansiedade, estresse e constante sobrecarga na equipe de recepção. Painéis convencionais informam apenas senhas frias, sem contextualizar prioridades clínicas ou explicar a dinâmica hospitalar aos usuários.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8500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C28E1-F09E-2FAD-F574-A518C0152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56064274-5325-A065-A448-614A56368A7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794F4F39-4851-3463-25B5-AC4CA346E548}"/>
              </a:ext>
            </a:extLst>
          </p:cNvPr>
          <p:cNvSpPr/>
          <p:nvPr/>
        </p:nvSpPr>
        <p:spPr>
          <a:xfrm>
            <a:off x="435600" y="388080"/>
            <a:ext cx="8270640" cy="41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spc="-1" dirty="0">
                <a:solidFill>
                  <a:schemeClr val="dk1"/>
                </a:solidFill>
                <a:latin typeface="Montserrat"/>
              </a:rPr>
              <a:t>Projeto 3d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E31BF3-0733-003B-9928-7DF5BD89A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11" y="1564395"/>
            <a:ext cx="2624502" cy="219642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5AB9E2E-48B6-1023-22B8-59C38D530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023" y="1564395"/>
            <a:ext cx="3159954" cy="220227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D170E2E-19CA-DD8A-DAE7-BCE4229C4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208" y="1564395"/>
            <a:ext cx="2646521" cy="219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04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00798-A565-5F38-49C5-234B72069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71708909-031D-116F-604D-D97465D591D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F18FFA21-9678-4393-C85C-BB667256D42B}"/>
              </a:ext>
            </a:extLst>
          </p:cNvPr>
          <p:cNvSpPr/>
          <p:nvPr/>
        </p:nvSpPr>
        <p:spPr>
          <a:xfrm>
            <a:off x="435600" y="388080"/>
            <a:ext cx="8270640" cy="41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Soluções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000" b="0" i="0" dirty="0">
                <a:effectLst/>
              </a:rPr>
              <a:t>Através de um totem touchscreen com front-</a:t>
            </a:r>
            <a:r>
              <a:rPr lang="pt-BR" sz="3000" b="0" i="0" dirty="0" err="1">
                <a:effectLst/>
              </a:rPr>
              <a:t>end</a:t>
            </a:r>
            <a:r>
              <a:rPr lang="pt-BR" sz="3000" b="0" i="0" dirty="0">
                <a:effectLst/>
              </a:rPr>
              <a:t> leve em HTML5/CSS3 (preparado para a estética moderna de </a:t>
            </a:r>
            <a:r>
              <a:rPr lang="pt-BR" sz="3000" b="0" i="0" dirty="0" err="1">
                <a:effectLst/>
              </a:rPr>
              <a:t>glassmorfismo</a:t>
            </a:r>
            <a:r>
              <a:rPr lang="pt-BR" sz="3000" b="0" i="0" dirty="0">
                <a:effectLst/>
              </a:rPr>
              <a:t>) e </a:t>
            </a:r>
            <a:r>
              <a:rPr lang="pt-BR" sz="3000" b="0" i="0" dirty="0" err="1">
                <a:effectLst/>
              </a:rPr>
              <a:t>back-end</a:t>
            </a:r>
            <a:r>
              <a:rPr lang="pt-BR" sz="3000" b="0" i="0" dirty="0">
                <a:effectLst/>
              </a:rPr>
              <a:t> em Python, o paciente consulta sua senha de triagem e tem acesso a:</a:t>
            </a:r>
            <a:endParaRPr lang="pt-BR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6075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501A-B751-88BA-88A7-11AF1D331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46427256-202D-2451-794C-0652D64AF35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229E8C1E-F950-8563-553F-36B1E1B19E54}"/>
              </a:ext>
            </a:extLst>
          </p:cNvPr>
          <p:cNvSpPr/>
          <p:nvPr/>
        </p:nvSpPr>
        <p:spPr>
          <a:xfrm>
            <a:off x="435600" y="388080"/>
            <a:ext cx="8270640" cy="41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Soluções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800" b="0" i="0" dirty="0">
                <a:effectLst/>
              </a:rPr>
              <a:t>Comunicação Humanizada com IA: Integração com o modelo de linguagem Kimi K3, que traduz os dados brutos da fila em mensagens acolhedoras, claras e em tempo real.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9276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F7797-BA41-CBED-74E9-EFB286A5A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07209C20-5503-0867-3626-37EBF4EB41B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DAA7A8BE-800F-DD2F-199D-DA2DB3DC13C2}"/>
              </a:ext>
            </a:extLst>
          </p:cNvPr>
          <p:cNvSpPr/>
          <p:nvPr/>
        </p:nvSpPr>
        <p:spPr>
          <a:xfrm>
            <a:off x="435600" y="388080"/>
            <a:ext cx="8270640" cy="41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Soluções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000" b="0" i="0" dirty="0">
                <a:effectLst/>
              </a:rPr>
              <a:t>Transparência de Fluxo: Explicações amigáveis sobre o sistema de prioridade clínica por cores (Protocolo de Manchester), esclarecendo por que casos de maior gravidade têm preferência.</a:t>
            </a:r>
            <a:endParaRPr lang="pt-BR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1542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8CC04-6A29-BC33-AA5E-966E6BF8A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3A28CE6E-1501-76EE-A882-C29DAFDD764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045F17C7-D52B-B788-D9B0-2B12A1801A0F}"/>
              </a:ext>
            </a:extLst>
          </p:cNvPr>
          <p:cNvSpPr/>
          <p:nvPr/>
        </p:nvSpPr>
        <p:spPr>
          <a:xfrm>
            <a:off x="435600" y="388080"/>
            <a:ext cx="8270640" cy="41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Soluções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200" b="0" i="0" dirty="0">
                <a:effectLst/>
              </a:rPr>
              <a:t>Central de Dúvidas Rápidas: Respostas instantâneas para perguntas frequentes sobre a rotina da unidade e orientações gerais de espera.</a:t>
            </a:r>
            <a:endParaRPr lang="pt-B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6295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DE54-1A5D-BAEC-C025-C0892B2E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8DCCEC60-75C1-E181-84D1-3A18E58AA34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4187C1C3-BC06-6737-176F-472D80C38A61}"/>
              </a:ext>
            </a:extLst>
          </p:cNvPr>
          <p:cNvSpPr/>
          <p:nvPr/>
        </p:nvSpPr>
        <p:spPr>
          <a:xfrm>
            <a:off x="435600" y="388080"/>
            <a:ext cx="8270640" cy="41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Proposta e Valor para Impacto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0" i="0" dirty="0">
                <a:effectLst/>
              </a:rPr>
              <a:t>Para o Paciente: Redução significativa da ansiedade e da percepção do tempo de espera por meio de acolhimento e previsibilidade.</a:t>
            </a:r>
            <a:br>
              <a:rPr lang="pt-BR" sz="2000" b="0" i="0" dirty="0">
                <a:effectLst/>
              </a:rPr>
            </a:br>
            <a:br>
              <a:rPr lang="pt-BR" sz="2000" b="0" i="0" dirty="0">
                <a:effectLst/>
              </a:rPr>
            </a:br>
            <a:r>
              <a:rPr lang="pt-BR" sz="2000" b="0" i="0" dirty="0">
                <a:effectLst/>
              </a:rPr>
              <a:t>Para a Unimed: Desafogamento dos balcões de recepção, diminuição de atritos no ambiente de atendimento e elevação dos índices de satisfação dos clientes.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3057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F2D41-CA7E-271B-8A99-5FA997463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4F166BAE-F3E5-E246-2E02-ECD29CD234A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E368A8B4-4F05-8868-F647-DF2F39926893}"/>
              </a:ext>
            </a:extLst>
          </p:cNvPr>
          <p:cNvSpPr/>
          <p:nvPr/>
        </p:nvSpPr>
        <p:spPr>
          <a:xfrm>
            <a:off x="435599" y="388080"/>
            <a:ext cx="8333828" cy="39084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 fontScale="70000" lnSpcReduction="2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Review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900" b="0" i="0" dirty="0">
                <a:effectLst/>
              </a:rPr>
              <a:t>O Totem Acolhedor de IA atende diretamente ao objetivo de melhorar a comunicação e o acolhimento na sala de espera do pronto atendimento da Unimed. Como Produto Mínimo Viável (MVP), o sistema foca estritamente no núcleo da dor do usuário: transformar a espera angustiante em um momento transparente e previsível. A arquitetura escolhida (Python no </a:t>
            </a:r>
            <a:r>
              <a:rPr lang="pt-BR" sz="2900" b="0" i="0" dirty="0" err="1">
                <a:effectLst/>
              </a:rPr>
              <a:t>back-end</a:t>
            </a:r>
            <a:r>
              <a:rPr lang="pt-BR" sz="2900" b="0" i="0" dirty="0">
                <a:effectLst/>
              </a:rPr>
              <a:t> e interface web leve) garante uma execução estável, modular e de baixo custo. A integração com o modelo Kimi K3 entrega mensagens acolhedoras e contextualizadas sem risco de alucinação médica, comprovando na prática como a IA pode desonerar a equipe de recepção e melhorar os índices de satisfação dos pacientes.</a:t>
            </a:r>
            <a:endParaRPr lang="pt-BR" sz="29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6404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E5C47-7925-FB91-E48B-C4761216A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629A5138-B6A7-1DCE-688F-F645821914A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99F17FBA-2895-FEC8-F635-028AD4F80D81}"/>
              </a:ext>
            </a:extLst>
          </p:cNvPr>
          <p:cNvSpPr/>
          <p:nvPr/>
        </p:nvSpPr>
        <p:spPr>
          <a:xfrm>
            <a:off x="435600" y="388080"/>
            <a:ext cx="8270640" cy="41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Front-</a:t>
            </a:r>
            <a:r>
              <a:rPr lang="pt-BR" sz="3600" b="1" i="0" dirty="0" err="1">
                <a:effectLst/>
              </a:rPr>
              <a:t>End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400" b="0" i="0" dirty="0">
                <a:effectLst/>
              </a:rPr>
              <a:t>Efeito Translúcido e Profundidade: Os cartões informativos utilizam fundos semitransparentes com desfoque de fundo (</a:t>
            </a:r>
            <a:r>
              <a:rPr lang="pt-BR" sz="1400" b="0" i="0" dirty="0" err="1">
                <a:effectLst/>
              </a:rPr>
              <a:t>backdrop</a:t>
            </a:r>
            <a:r>
              <a:rPr lang="pt-BR" sz="1400" b="0" i="0" dirty="0">
                <a:effectLst/>
              </a:rPr>
              <a:t> </a:t>
            </a:r>
            <a:r>
              <a:rPr lang="pt-BR" sz="1400" b="0" i="0" dirty="0" err="1">
                <a:effectLst/>
              </a:rPr>
              <a:t>blur</a:t>
            </a:r>
            <a:r>
              <a:rPr lang="pt-BR" sz="1400" b="0" i="0" dirty="0">
                <a:effectLst/>
              </a:rPr>
              <a:t>), bordas sutis e sombras difusas sobre uma paleta suave em tons de verde institucional e tons pastéis.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400" b="0" i="0" dirty="0">
                <a:effectLst/>
              </a:rPr>
              <a:t>Elemento Central de IA: O avatar do assistente virtual é representado por uma esfera aconchegante com textura têxtil/suave, transmitindo tranquilidade visual e distanciando a interface do aspecto frio de telas hospitalares convencionais.</a:t>
            </a:r>
            <a:br>
              <a:rPr lang="pt-BR" sz="1400" b="0" i="0" dirty="0">
                <a:effectLst/>
              </a:rPr>
            </a:br>
            <a:br>
              <a:rPr lang="pt-BR" sz="1400" b="0" i="0" dirty="0">
                <a:effectLst/>
              </a:rPr>
            </a:br>
            <a:r>
              <a:rPr lang="pt-BR" sz="1400" b="0" i="0" dirty="0">
                <a:effectLst/>
              </a:rPr>
              <a:t>Ergonomia Touchscreen: Botões amplos com áreas de toque generosas, contraste adequado de tipografia e teclado numérico virtual integrado em tela para facilitar a digitação por pessoas de todas as idades sem depender do teclado nativo do dispositivo.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9900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0999F-2432-E580-1D13-38B7B527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9C7A1B9B-4303-AB42-55A3-B0AC59FAFBE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76194722-F3BA-C9C9-4D7E-D602BB344F36}"/>
              </a:ext>
            </a:extLst>
          </p:cNvPr>
          <p:cNvSpPr/>
          <p:nvPr/>
        </p:nvSpPr>
        <p:spPr>
          <a:xfrm>
            <a:off x="435600" y="388080"/>
            <a:ext cx="8270640" cy="41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515193B-49A9-D941-4182-DD105836B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23" y="268650"/>
            <a:ext cx="2036523" cy="380214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78A1982-3629-4EAF-D5EA-224B4B7EC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809" y="268649"/>
            <a:ext cx="2053159" cy="3802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65BA237-6FB2-10B2-8399-EB735D833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031" y="268648"/>
            <a:ext cx="2043652" cy="380214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B575B88-267E-BF99-D64E-5FCD161604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6748" y="268650"/>
            <a:ext cx="2036524" cy="381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31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2233-737F-AF80-565E-BE496E54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01C4DB7A-38E4-1BE9-1637-83B8664C4A4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59B95AFA-1722-8C95-9D0C-FF269D524254}"/>
              </a:ext>
            </a:extLst>
          </p:cNvPr>
          <p:cNvSpPr/>
          <p:nvPr/>
        </p:nvSpPr>
        <p:spPr>
          <a:xfrm>
            <a:off x="435600" y="388080"/>
            <a:ext cx="8270640" cy="41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Fluxos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pt-BR" b="0" i="0" dirty="0">
                <a:effectLst/>
              </a:rPr>
              <a:t>Identificação: O paciente acessa o totem em modo quiosque na sala de espera e digita sua senha de triagem no teclado virtual numérico.</a:t>
            </a:r>
          </a:p>
          <a:p>
            <a:pPr marL="457200" indent="-4572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pt-BR" b="0" i="0" dirty="0">
                <a:effectLst/>
              </a:rPr>
              <a:t>Processamento e Consulta: O front-</a:t>
            </a:r>
            <a:r>
              <a:rPr lang="pt-BR" b="0" i="0" dirty="0" err="1">
                <a:effectLst/>
              </a:rPr>
              <a:t>end</a:t>
            </a:r>
            <a:r>
              <a:rPr lang="pt-BR" b="0" i="0" dirty="0">
                <a:effectLst/>
              </a:rPr>
              <a:t> envia uma requisição ao </a:t>
            </a:r>
            <a:r>
              <a:rPr lang="pt-BR" b="0" i="0" dirty="0" err="1">
                <a:effectLst/>
              </a:rPr>
              <a:t>back-end</a:t>
            </a:r>
            <a:r>
              <a:rPr lang="pt-BR" b="0" i="0" dirty="0">
                <a:effectLst/>
              </a:rPr>
              <a:t> em Python, que recupera a posição na fila, classificação de risco e status do atendimento.</a:t>
            </a:r>
          </a:p>
          <a:p>
            <a:pPr marL="457200" indent="-4572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pt-BR" b="0" i="0" dirty="0">
                <a:effectLst/>
              </a:rPr>
              <a:t>Geração de Acolhimento: O </a:t>
            </a:r>
            <a:r>
              <a:rPr lang="pt-BR" b="0" i="0" dirty="0" err="1">
                <a:effectLst/>
              </a:rPr>
              <a:t>back-end</a:t>
            </a:r>
            <a:r>
              <a:rPr lang="pt-BR" b="0" i="0" dirty="0">
                <a:effectLst/>
              </a:rPr>
              <a:t> orquestra os dados da fila com o System Prompt no Kimi K3, gerando uma mensagem em linguagem natural, empática e tranquilizadora. </a:t>
            </a:r>
            <a:endParaRPr lang="pt-BR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5543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68499-B8B8-1A46-1450-3798808E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4DB505FE-4D0F-6131-63E3-2F5FC2A4ABE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9E6D443F-91E3-379D-FFDD-D9604F34E741}"/>
              </a:ext>
            </a:extLst>
          </p:cNvPr>
          <p:cNvSpPr/>
          <p:nvPr/>
        </p:nvSpPr>
        <p:spPr>
          <a:xfrm>
            <a:off x="435599" y="388081"/>
            <a:ext cx="8366878" cy="34237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Fluxos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b="0" i="0" dirty="0">
                <a:effectLst/>
              </a:rPr>
              <a:t>4. Exibição do Painel: A tela exibe o tempo estimado, status da triagem e o texto acolhedor da IA.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b="0" i="0" dirty="0">
              <a:effectLst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b="0" i="0" dirty="0">
                <a:effectLst/>
              </a:rPr>
              <a:t>5. Esclarecimento de Dúvidas: O paciente pode tocar em botões de dúvidas frequentes (</a:t>
            </a:r>
            <a:r>
              <a:rPr lang="pt-BR" b="0" i="0" dirty="0" err="1">
                <a:effectLst/>
              </a:rPr>
              <a:t>ex</a:t>
            </a:r>
            <a:r>
              <a:rPr lang="pt-BR" b="0" i="0" dirty="0">
                <a:effectLst/>
              </a:rPr>
              <a:t>: prioridade por cores ou orientações de espera) e receber explicações instantâneas. 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b="0" i="0" dirty="0">
              <a:effectLst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b="0" i="0" dirty="0">
                <a:effectLst/>
              </a:rPr>
              <a:t>6. Encerramento: O sistema conta com temporizador de inatividade que retorna automaticamente à tela inicial para garantir a privacidade do usuário seguinte.</a:t>
            </a:r>
            <a:endParaRPr lang="pt-BR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2943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B638-00BF-6E44-71BB-BCA406324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>
            <a:extLst>
              <a:ext uri="{FF2B5EF4-FFF2-40B4-BE49-F238E27FC236}">
                <a16:creationId xmlns:a16="http://schemas.microsoft.com/office/drawing/2014/main" id="{E6A70F52-2ABA-D619-C3C5-B0B5DB6C22A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33120"/>
            <a:ext cx="9144000" cy="511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67;p 2">
            <a:extLst>
              <a:ext uri="{FF2B5EF4-FFF2-40B4-BE49-F238E27FC236}">
                <a16:creationId xmlns:a16="http://schemas.microsoft.com/office/drawing/2014/main" id="{13E9256C-ACB3-3E1F-FF7D-49D71F51C14A}"/>
              </a:ext>
            </a:extLst>
          </p:cNvPr>
          <p:cNvSpPr/>
          <p:nvPr/>
        </p:nvSpPr>
        <p:spPr>
          <a:xfrm>
            <a:off x="435600" y="388080"/>
            <a:ext cx="8270640" cy="41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FIM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3600" b="1" i="0" dirty="0">
                <a:effectLst/>
              </a:rPr>
              <a:t>Agradecemos a sua atenção!</a:t>
            </a:r>
            <a:endParaRPr lang="pt-BR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431510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719</Words>
  <Application>Microsoft Office PowerPoint</Application>
  <PresentationFormat>Apresentação na tela (16:9)</PresentationFormat>
  <Paragraphs>57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13</vt:i4>
      </vt:variant>
      <vt:variant>
        <vt:lpstr>Títulos de slides</vt:lpstr>
      </vt:variant>
      <vt:variant>
        <vt:i4>16</vt:i4>
      </vt:variant>
    </vt:vector>
  </HeadingPairs>
  <TitlesOfParts>
    <vt:vector size="34" baseType="lpstr">
      <vt:lpstr>Arial</vt:lpstr>
      <vt:lpstr>Montserrat</vt:lpstr>
      <vt:lpstr>Symbol</vt:lpstr>
      <vt:lpstr>Times New Roman</vt:lpstr>
      <vt:lpstr>Wingdings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dc:description/>
  <cp:lastModifiedBy>juão lidão perera dus santosss</cp:lastModifiedBy>
  <cp:revision>7</cp:revision>
  <dcterms:modified xsi:type="dcterms:W3CDTF">2026-09-04T01:55:45Z</dcterms:modified>
  <dc:language>pt-BR</dc:language>
</cp:coreProperties>
</file>